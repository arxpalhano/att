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25880" y="530352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530352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63240" y="530352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31920" y="530352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00600" y="530352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0" y="530352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37960" y="530352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6640" y="530352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75320" y="530352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530352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12680" y="530352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81360" y="530352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750040" y="530352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93776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25880" y="493776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94560" y="493776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63240" y="493776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31920" y="493776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493776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0" y="493776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37960" y="493776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06640" y="493776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75320" y="493776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0" y="493776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12680" y="493776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881360" y="493776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750040" y="493776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57200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25880" y="457200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94560" y="457200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63240" y="457200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931920" y="457200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00600" y="457200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69280" y="457200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37960" y="457200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06640" y="457200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75320" y="457200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44000" y="457200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012680" y="457200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881360" y="457200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750040" y="457200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7200" y="420624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25880" y="420624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194560" y="420624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063240" y="420624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931920" y="420624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800600" y="420624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669280" y="420624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537960" y="420624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406640" y="420624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275320" y="420624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144000" y="420624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012680" y="420624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881360" y="420624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750040" y="420624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57200" y="384048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325880" y="384048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194560" y="384048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063240" y="384048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931920" y="384048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800600" y="384048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669280" y="384048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537960" y="384048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406640" y="384048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275320" y="384048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144000" y="384048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012680" y="384048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881360" y="384048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750040" y="384048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57200" y="347472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325880" y="347472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194560" y="347472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063240" y="347472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931920" y="347472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800600" y="347472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669280" y="347472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537960" y="347472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406640" y="347472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275320" y="347472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144000" y="347472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012680" y="347472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881360" y="347472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1750040" y="3474720"/>
            <a:ext cx="45720" cy="457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ARCHTECHTOUR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731520" y="11887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&amp; Analytics Nativos</a:t>
            </a:r>
            <a:endParaRPr lang="en-US" sz="5200" dirty="0"/>
          </a:p>
        </p:txBody>
      </p:sp>
      <p:sp>
        <p:nvSpPr>
          <p:cNvPr id="89" name="Text 87"/>
          <p:cNvSpPr/>
          <p:nvPr/>
        </p:nvSpPr>
        <p:spPr>
          <a:xfrm>
            <a:off x="731520" y="2286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Migração do Power BI · Automação completa do pipeline de dados</a:t>
            </a:r>
            <a:endParaRPr lang="en-US" sz="2200" dirty="0"/>
          </a:p>
        </p:txBody>
      </p:sp>
      <p:sp>
        <p:nvSpPr>
          <p:cNvPr id="90" name="Text 88"/>
          <p:cNvSpPr/>
          <p:nvPr/>
        </p:nvSpPr>
        <p:spPr>
          <a:xfrm>
            <a:off x="731520" y="33832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21×</a:t>
            </a:r>
            <a:endParaRPr lang="en-US" sz="7200" dirty="0"/>
          </a:p>
        </p:txBody>
      </p:sp>
      <p:sp>
        <p:nvSpPr>
          <p:cNvPr id="91" name="Text 89"/>
          <p:cNvSpPr/>
          <p:nvPr/>
        </p:nvSpPr>
        <p:spPr>
          <a:xfrm>
            <a:off x="731520" y="4434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rápido</a:t>
            </a:r>
            <a:endParaRPr lang="en-US" sz="1400" dirty="0"/>
          </a:p>
        </p:txBody>
      </p:sp>
      <p:sp>
        <p:nvSpPr>
          <p:cNvPr id="92" name="Text 90"/>
          <p:cNvSpPr/>
          <p:nvPr/>
        </p:nvSpPr>
        <p:spPr>
          <a:xfrm>
            <a:off x="4389120" y="33832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740×</a:t>
            </a:r>
            <a:endParaRPr lang="en-US" sz="7200" dirty="0"/>
          </a:p>
        </p:txBody>
      </p:sp>
      <p:sp>
        <p:nvSpPr>
          <p:cNvPr id="93" name="Text 91"/>
          <p:cNvSpPr/>
          <p:nvPr/>
        </p:nvSpPr>
        <p:spPr>
          <a:xfrm>
            <a:off x="4389120" y="4434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data scaneada</a:t>
            </a:r>
            <a:endParaRPr lang="en-US" sz="1400" dirty="0"/>
          </a:p>
        </p:txBody>
      </p:sp>
      <p:sp>
        <p:nvSpPr>
          <p:cNvPr id="94" name="Text 92"/>
          <p:cNvSpPr/>
          <p:nvPr/>
        </p:nvSpPr>
        <p:spPr>
          <a:xfrm>
            <a:off x="8046720" y="33832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7200" dirty="0"/>
          </a:p>
        </p:txBody>
      </p:sp>
      <p:sp>
        <p:nvSpPr>
          <p:cNvPr id="95" name="Text 93"/>
          <p:cNvSpPr/>
          <p:nvPr/>
        </p:nvSpPr>
        <p:spPr>
          <a:xfrm>
            <a:off x="8046720" y="4434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automatizado</a:t>
            </a:r>
            <a:endParaRPr lang="en-US" sz="1400" dirty="0"/>
          </a:p>
        </p:txBody>
      </p:sp>
      <p:sp>
        <p:nvSpPr>
          <p:cNvPr id="96" name="Text 94"/>
          <p:cNvSpPr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Matheus Palhano · Tech Lead ArchTechTour</a:t>
            </a:r>
            <a:endParaRPr lang="en-US" sz="1400" dirty="0"/>
          </a:p>
        </p:txBody>
      </p:sp>
      <p:sp>
        <p:nvSpPr>
          <p:cNvPr id="97" name="Text 95"/>
          <p:cNvSpPr/>
          <p:nvPr/>
        </p:nvSpPr>
        <p:spPr>
          <a:xfrm>
            <a:off x="10058400" y="6126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estávamos antes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analytics fragmentado, manual e caro de operar.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4864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468880"/>
            <a:ext cx="548640" cy="54864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578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2468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por máquina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554480" y="28803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ODBC Simba Athena instalado em cada PC. Setup demorado, conflitos de driver.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17920" y="2194560"/>
            <a:ext cx="54864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92240" y="2468880"/>
            <a:ext cx="548640" cy="54864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257860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23760" y="2468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.pbix individuais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223760" y="28803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arquivo por cliente, atualizado manualmente. Sem versionamento, fácil de quebrar.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4023360"/>
            <a:ext cx="54864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4297680"/>
            <a:ext cx="548640" cy="54864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440740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54480" y="42976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self-service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554480" y="47091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não tinha acesso direto. Toda mudança virava ticket pra equipe interna.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217920" y="4023360"/>
            <a:ext cx="54864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92240" y="4297680"/>
            <a:ext cx="548640" cy="54864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4407408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23760" y="42976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manual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7223760" y="47091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do dashboard, envio por email/WhatsApp. Sem histórico, sem interação.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ArchTechTour · Portal &amp; Analytics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DIAGNÓSTICO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em escala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 lia 328 mil arquivos JSON sem partitioning a cada query.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365760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377440"/>
            <a:ext cx="36576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974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328.361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JSON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42519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s3://explorar/eventos/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53128" y="2377440"/>
            <a:ext cx="365760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53128" y="2377440"/>
            <a:ext cx="365760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27448" y="26974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31s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4727448" y="3840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um COUNT(*)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27448" y="42519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simples na tabela base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357616" y="2377440"/>
            <a:ext cx="365760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57616" y="2377440"/>
            <a:ext cx="36576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31936" y="26974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 MB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8631936" y="3840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scaneados por query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31936" y="42519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arquivo lido, todo o tempo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486400"/>
            <a:ext cx="1106424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486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lentas, custo Athena alto e impossibilidade de servir dashboards em tempo aceitável.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ArchTechTour · Portal &amp; Analytics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 SOLUÇÃO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no portal. Sem BI.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nativo dentro do portal do cliente, alimentado por um pipeline AWS automatizado de ponta a ponta.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3657600" cy="3108960"/>
          </a:xfrm>
          <a:prstGeom prst="rect">
            <a:avLst/>
          </a:prstGeom>
          <a:solidFill>
            <a:srgbClr val="1E293B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3291840"/>
            <a:ext cx="822960" cy="82296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4747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297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do cliente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48006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loga no portal e vê o próprio dashboard. Filtra período. Sem ticket, sem espera.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53128" y="2926080"/>
            <a:ext cx="3657600" cy="3108960"/>
          </a:xfrm>
          <a:prstGeom prst="rect">
            <a:avLst/>
          </a:prstGeom>
          <a:solidFill>
            <a:srgbClr val="1E293B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18888" y="3291840"/>
            <a:ext cx="822960" cy="82296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347472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18888" y="4297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automatizado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818888" y="48006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Lambdas no AWS rodam dia 5 e dia 10. Extrair, agregar e publicar — sem ação humana.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57616" y="2926080"/>
            <a:ext cx="3657600" cy="3108960"/>
          </a:xfrm>
          <a:prstGeom prst="rect">
            <a:avLst/>
          </a:prstGeom>
          <a:solidFill>
            <a:srgbClr val="1E293B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723376" y="3291840"/>
            <a:ext cx="822960" cy="82296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6256" y="347472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723376" y="4297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custo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723376" y="48006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particionado: queries em 1.4s (eram 31s), 740× menos data scaneada.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ArchTechTour · Portal &amp; Analytics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ARQUITETURA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em 4 estágios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na AWS · IAM Role compartilhada · Region multi-zona (sa-east-1 + us-east-1)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60604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468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2286000" y="2514600"/>
            <a:ext cx="640080" cy="6400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1448" y="267004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3429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77240" y="38862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real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7240" y="42519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Customizador 3D → Lambda → JSON em S3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172968" y="3657600"/>
            <a:ext cx="237744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3529584"/>
            <a:ext cx="274320" cy="2743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429000" y="2286000"/>
            <a:ext cx="260604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3657600" y="2468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7" name="Shape 13"/>
          <p:cNvSpPr/>
          <p:nvPr/>
        </p:nvSpPr>
        <p:spPr>
          <a:xfrm>
            <a:off x="5166360" y="2514600"/>
            <a:ext cx="640080" cy="6400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808" y="267004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657600" y="3429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Consolidação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3657600" y="38862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 · Dia 5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3657600" y="42519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→ Parquet particionado por data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053328" y="3657600"/>
            <a:ext cx="237744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3529584"/>
            <a:ext cx="274320" cy="27432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6309360" y="2286000"/>
            <a:ext cx="260604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6537960" y="2468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26" name="Shape 20"/>
          <p:cNvSpPr/>
          <p:nvPr/>
        </p:nvSpPr>
        <p:spPr>
          <a:xfrm>
            <a:off x="8046720" y="2514600"/>
            <a:ext cx="640080" cy="6400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2168" y="2670048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537960" y="3429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Agregação</a:t>
            </a:r>
            <a:endParaRPr lang="en-US" sz="2200" dirty="0"/>
          </a:p>
        </p:txBody>
      </p:sp>
      <p:sp>
        <p:nvSpPr>
          <p:cNvPr id="29" name="Text 22"/>
          <p:cNvSpPr/>
          <p:nvPr/>
        </p:nvSpPr>
        <p:spPr>
          <a:xfrm>
            <a:off x="6537960" y="38862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 · Dia 10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6537960" y="42519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queries Athena → JSON por cliente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8933688" y="3657600"/>
            <a:ext cx="237744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6840" y="3529584"/>
            <a:ext cx="274320" cy="274320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9189720" y="2286000"/>
            <a:ext cx="260604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34" name="Text 26"/>
          <p:cNvSpPr/>
          <p:nvPr/>
        </p:nvSpPr>
        <p:spPr>
          <a:xfrm>
            <a:off x="9418320" y="2468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200" dirty="0"/>
          </a:p>
        </p:txBody>
      </p:sp>
      <p:sp>
        <p:nvSpPr>
          <p:cNvPr id="35" name="Shape 27"/>
          <p:cNvSpPr/>
          <p:nvPr/>
        </p:nvSpPr>
        <p:spPr>
          <a:xfrm>
            <a:off x="10927080" y="2514600"/>
            <a:ext cx="640080" cy="6400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82528" y="2670048"/>
            <a:ext cx="329184" cy="32918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9418320" y="3429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</a:t>
            </a:r>
            <a:endParaRPr lang="en-US" sz="2200" dirty="0"/>
          </a:p>
        </p:txBody>
      </p:sp>
      <p:sp>
        <p:nvSpPr>
          <p:cNvPr id="38" name="Text 29"/>
          <p:cNvSpPr/>
          <p:nvPr/>
        </p:nvSpPr>
        <p:spPr>
          <a:xfrm>
            <a:off x="9418320" y="38862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real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9418320" y="42519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loga e vê dashboard React</a:t>
            </a:r>
            <a:endParaRPr lang="en-US" sz="1200" dirty="0"/>
          </a:p>
        </p:txBody>
      </p:sp>
      <p:sp>
        <p:nvSpPr>
          <p:cNvPr id="40" name="Text 31"/>
          <p:cNvSpPr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Next.js 14 · AWS Amplify · Athena · S3 · Lambda · EventBridge · Parquet · TypeScript</a:t>
            </a:r>
            <a:endParaRPr lang="en-US" sz="1200" dirty="0"/>
          </a:p>
        </p:txBody>
      </p:sp>
      <p:sp>
        <p:nvSpPr>
          <p:cNvPr id="41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ArchTechTour · Portal &amp; Analytics</a:t>
            </a:r>
            <a:endParaRPr lang="en-US" sz="900" dirty="0"/>
          </a:p>
        </p:txBody>
      </p:sp>
      <p:sp>
        <p:nvSpPr>
          <p:cNvPr id="42" name="Text 33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PRODUTO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cliente vê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777240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7772400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83080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178308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" y="1783080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· RS Design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2606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abr — 14 mai 2026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063240"/>
            <a:ext cx="219456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1363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159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0120" y="35387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 únicos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0" y="3063240"/>
            <a:ext cx="219456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31363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337560" y="35387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Sessões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577840" y="3063240"/>
            <a:ext cx="219456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15000" y="31363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5,36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715000" y="35387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sessões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22960" y="3977640"/>
            <a:ext cx="219456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0507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60120" y="44531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0" y="3977640"/>
            <a:ext cx="219456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40507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00:53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337560" y="44531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médio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577840" y="3977640"/>
            <a:ext cx="219456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15000" y="40507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1.988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715000" y="44531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22960" y="5029200"/>
            <a:ext cx="7223760" cy="10515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51206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Sessões diárias · Engajamento por produto · Origem de acesso · Cidades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05840" y="5888736"/>
            <a:ext cx="73152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74520" y="5779008"/>
            <a:ext cx="7315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0" y="5833872"/>
            <a:ext cx="73152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11880" y="5724144"/>
            <a:ext cx="73152" cy="21945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80560" y="5655564"/>
            <a:ext cx="73152" cy="2880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49240" y="5792724"/>
            <a:ext cx="73152" cy="1508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17920" y="5682996"/>
            <a:ext cx="73152" cy="26060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86600" y="5737860"/>
            <a:ext cx="73152" cy="2057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78240" y="1783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disponíveis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778240" y="237744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4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5672" y="2404872"/>
            <a:ext cx="118872" cy="118872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9070848" y="2331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de período flexível (7d / 30d / mês anterior / custom)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8778240" y="297180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4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5672" y="2999232"/>
            <a:ext cx="118872" cy="118872"/>
          </a:xfrm>
          <a:prstGeom prst="rect">
            <a:avLst/>
          </a:prstGeom>
        </p:spPr>
      </p:pic>
      <p:sp>
        <p:nvSpPr>
          <p:cNvPr id="46" name="Text 42"/>
          <p:cNvSpPr/>
          <p:nvPr/>
        </p:nvSpPr>
        <p:spPr>
          <a:xfrm>
            <a:off x="9070848" y="2926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produtos por engajamento e tempo total</a:t>
            </a:r>
            <a:endParaRPr lang="en-US" sz="1100" dirty="0"/>
          </a:p>
        </p:txBody>
      </p:sp>
      <p:sp>
        <p:nvSpPr>
          <p:cNvPr id="47" name="Shape 43"/>
          <p:cNvSpPr/>
          <p:nvPr/>
        </p:nvSpPr>
        <p:spPr>
          <a:xfrm>
            <a:off x="8778240" y="356616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4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5672" y="3593592"/>
            <a:ext cx="118872" cy="118872"/>
          </a:xfrm>
          <a:prstGeom prst="rect">
            <a:avLst/>
          </a:prstGeom>
        </p:spPr>
      </p:pic>
      <p:sp>
        <p:nvSpPr>
          <p:cNvPr id="49" name="Text 44"/>
          <p:cNvSpPr/>
          <p:nvPr/>
        </p:nvSpPr>
        <p:spPr>
          <a:xfrm>
            <a:off x="9070848" y="3520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evento mais usados (AR, downloads, etc.)</a:t>
            </a:r>
            <a:endParaRPr lang="en-US" sz="1100" dirty="0"/>
          </a:p>
        </p:txBody>
      </p:sp>
      <p:sp>
        <p:nvSpPr>
          <p:cNvPr id="50" name="Shape 45"/>
          <p:cNvSpPr/>
          <p:nvPr/>
        </p:nvSpPr>
        <p:spPr>
          <a:xfrm>
            <a:off x="8778240" y="416052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5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5672" y="4187952"/>
            <a:ext cx="118872" cy="118872"/>
          </a:xfrm>
          <a:prstGeom prst="rect">
            <a:avLst/>
          </a:prstGeom>
        </p:spPr>
      </p:pic>
      <p:sp>
        <p:nvSpPr>
          <p:cNvPr id="52" name="Text 46"/>
          <p:cNvSpPr/>
          <p:nvPr/>
        </p:nvSpPr>
        <p:spPr>
          <a:xfrm>
            <a:off x="9070848" y="4114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temporal de sessões diárias</a:t>
            </a:r>
            <a:endParaRPr lang="en-US" sz="1100" dirty="0"/>
          </a:p>
        </p:txBody>
      </p:sp>
      <p:sp>
        <p:nvSpPr>
          <p:cNvPr id="53" name="Shape 47"/>
          <p:cNvSpPr/>
          <p:nvPr/>
        </p:nvSpPr>
        <p:spPr>
          <a:xfrm>
            <a:off x="8778240" y="475488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5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5672" y="4782312"/>
            <a:ext cx="118872" cy="118872"/>
          </a:xfrm>
          <a:prstGeom prst="rect">
            <a:avLst/>
          </a:prstGeom>
        </p:spPr>
      </p:pic>
      <p:sp>
        <p:nvSpPr>
          <p:cNvPr id="55" name="Text 48"/>
          <p:cNvSpPr/>
          <p:nvPr/>
        </p:nvSpPr>
        <p:spPr>
          <a:xfrm>
            <a:off x="9070848" y="4709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 do tráfego (referrer)</a:t>
            </a:r>
            <a:endParaRPr lang="en-US" sz="1100" dirty="0"/>
          </a:p>
        </p:txBody>
      </p:sp>
      <p:sp>
        <p:nvSpPr>
          <p:cNvPr id="56" name="Shape 49"/>
          <p:cNvSpPr/>
          <p:nvPr/>
        </p:nvSpPr>
        <p:spPr>
          <a:xfrm>
            <a:off x="8778240" y="534924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5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5672" y="5376672"/>
            <a:ext cx="118872" cy="118872"/>
          </a:xfrm>
          <a:prstGeom prst="rect">
            <a:avLst/>
          </a:prstGeom>
        </p:spPr>
      </p:pic>
      <p:sp>
        <p:nvSpPr>
          <p:cNvPr id="58" name="Text 50"/>
          <p:cNvSpPr/>
          <p:nvPr/>
        </p:nvSpPr>
        <p:spPr>
          <a:xfrm>
            <a:off x="9070848" y="5303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cidades por número de acessos</a:t>
            </a:r>
            <a:endParaRPr lang="en-US" sz="1100" dirty="0"/>
          </a:p>
        </p:txBody>
      </p:sp>
      <p:sp>
        <p:nvSpPr>
          <p:cNvPr id="59" name="Text 5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ArchTechTour · Portal &amp; Analytics</a:t>
            </a:r>
            <a:endParaRPr lang="en-US" sz="900" dirty="0"/>
          </a:p>
        </p:txBody>
      </p:sp>
      <p:sp>
        <p:nvSpPr>
          <p:cNvPr id="60" name="Text 52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OPERAÇÃO INTERNA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centralizada no portal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gerencia clientes, contratos, pipeline 3D e disparos de analytics — tudo numa interface só.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4864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468880"/>
            <a:ext cx="594360" cy="59436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58775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24231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Clientes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554480" y="2761488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da dim_client_alias direto do Athena. Adicionar cliente novo cria registro via INSERT.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17920" y="2194560"/>
            <a:ext cx="54864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92240" y="2468880"/>
            <a:ext cx="594360" cy="59436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2587752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23760" y="24231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sob demanda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223760" y="2761488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atualiza qualquer dashboard em ~6-9s. Date picker permite range customizado.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3520440"/>
            <a:ext cx="54864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3794760"/>
            <a:ext cx="594360" cy="59436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3913632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54480" y="37490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Blocos 3D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554480" y="4087368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status de produção rastreáveis, transições determinísticas, log de atividade auditável.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217920" y="3520440"/>
            <a:ext cx="54864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92240" y="3794760"/>
            <a:ext cx="594360" cy="59436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3913632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23760" y="37490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Aprovações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7223760" y="4087368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validation + final validation com timeline, comentários e histórico por bloco.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48640" y="4846320"/>
            <a:ext cx="54864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22960" y="5120640"/>
            <a:ext cx="594360" cy="59436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5239512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554480" y="50749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e capacidade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1554480" y="5413248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Total/usados por contrato, validação de capacidade ao criar bloco novo, progresso visual.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6217920" y="4846320"/>
            <a:ext cx="54864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492240" y="5120640"/>
            <a:ext cx="594360" cy="59436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1112" y="5239512"/>
            <a:ext cx="365760" cy="36576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223760" y="50749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7223760" y="5413248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cronológica de tudo que aconteceu — quem fez o quê e quando, por bloco.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ArchTechTour · Portal &amp; Analytics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AUTOMAÇÃO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mensal automático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ação humana. Lambdas em cron + EventBridge cuidam de tudo.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3200400"/>
            <a:ext cx="103327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23160" y="2999232"/>
            <a:ext cx="457200" cy="457200"/>
          </a:xfrm>
          <a:prstGeom prst="ellipse">
            <a:avLst/>
          </a:prstGeom>
          <a:solidFill>
            <a:srgbClr val="06B6D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01-31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2651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contínua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36576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interação no customizador 3D vira um JSON em S3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70448" y="2999232"/>
            <a:ext cx="457200" cy="457200"/>
          </a:xfrm>
          <a:prstGeom prst="ellipse">
            <a:avLst/>
          </a:prstGeom>
          <a:solidFill>
            <a:srgbClr val="10B98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36008" y="2651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Parquet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44568" y="36576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migra mês anterior · ~40s · idempotente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317736" y="2999232"/>
            <a:ext cx="457200" cy="457200"/>
          </a:xfrm>
          <a:prstGeom prst="ellipse">
            <a:avLst/>
          </a:prstGeom>
          <a:solidFill>
            <a:srgbClr val="10B98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66176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10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83296" y="2651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dashboards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91856" y="36576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gera JSON por cliente · todos atualizados ao mesmo tempo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2765024" y="2999232"/>
            <a:ext cx="457200" cy="457200"/>
          </a:xfrm>
          <a:prstGeom prst="ellipse">
            <a:avLst/>
          </a:prstGeom>
          <a:solidFill>
            <a:srgbClr val="06B6D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13464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11+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530584" y="2651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acessa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9144" y="36576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já estão prontos no S3 quando o cliente abre o portal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5212080"/>
            <a:ext cx="11064240" cy="914400"/>
          </a:xfrm>
          <a:prstGeom prst="rect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212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dias de buffer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 as duas Lambdas — tempo de detectar falha antes do refresh.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ArchTechTour · Portal &amp; Analytics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RESULTADOS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vs Depois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uma pequena melhoria. É uma mudança de patamar.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106424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286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4340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(Power BI)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12280" y="2286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(Portal nativo)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464040" y="2286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1106424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74320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query (COUNT total)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43400" y="274320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12280" y="274320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464040" y="274320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21× mais rápido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401568"/>
            <a:ext cx="11064240" cy="6583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401568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por query (1 cliente, 1 mês)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43400" y="340156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 MB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12280" y="3401568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 KB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464040" y="340156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410× menos data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059936"/>
            <a:ext cx="1106424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059936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do dashboard no portal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43400" y="4059936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12280" y="4059936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6-9s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464040" y="4059936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718304"/>
            <a:ext cx="11064240" cy="6583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718304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Athena/query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43400" y="4718304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~R$ 0,005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12280" y="4718304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~R$ 0,00002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464040" y="471830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~250× mais barato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5376672"/>
            <a:ext cx="1106424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537667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do dashboard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343400" y="5376672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12280" y="537667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automática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464040" y="537667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ação humana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ArchTechTour · Portal &amp; Analytics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ECONOMIA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custa rodar isso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685800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0116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mensal estimado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108960"/>
            <a:ext cx="630936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060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Amplify Hosting (SSR)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2606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US$ 3 – 8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749040"/>
            <a:ext cx="630936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2461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Athena (queries)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3246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US$ 1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389120"/>
            <a:ext cx="630936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8862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(storage + I/O)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38862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US$ 2 – 5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5029200"/>
            <a:ext cx="630936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5262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Lambdas (cron mensal)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4526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US$ 0,01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5440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0" y="5440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US$ 5 – 15 /mês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772400" y="1828800"/>
            <a:ext cx="3931920" cy="4389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0" y="2011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Power BI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955280" y="2560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recorrente: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955280" y="2926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Pro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955280" y="3200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R$ 60/mês × usuário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955280" y="3749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por máquina: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955280" y="4114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Simba Athena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955280" y="4389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instalação manual recorrente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955280" y="5212080"/>
            <a:ext cx="3566160" cy="8686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38160" y="5257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paga ZERO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138160" y="5623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acessa via portal, sem licença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ArchTechTour · Portal &amp; Analytics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ALÉM DO ANALYTICS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portal como hub operacional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é uma das peças. O portal centraliza toda a operação ArchTechTour.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35661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240280"/>
            <a:ext cx="73152" cy="1691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51460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24688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3D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30632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status de produção · transições determinísticas · readiness automático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97680" y="2240280"/>
            <a:ext cx="35661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97680" y="2240280"/>
            <a:ext cx="73152" cy="1691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51460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66360" y="24688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Cliente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572000" y="30632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guiado · acompanhar blocos · aprovações · publicações live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046720" y="2240280"/>
            <a:ext cx="35661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046720" y="2240280"/>
            <a:ext cx="73152" cy="1691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51460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15400" y="24688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321040" y="30632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nativos com dados reais Athena · refresh sob demanda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48640" y="4160520"/>
            <a:ext cx="35661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48640" y="4160520"/>
            <a:ext cx="73152" cy="1691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434840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17320" y="43891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Aprovações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822960" y="49834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validation + Final validation · timeline auditável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297680" y="4160520"/>
            <a:ext cx="35661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297680" y="4160520"/>
            <a:ext cx="73152" cy="1691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434840"/>
            <a:ext cx="411480" cy="4114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166360" y="43891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Analyzer</a:t>
            </a:r>
            <a:endParaRPr lang="en-US" sz="1600" dirty="0"/>
          </a:p>
        </p:txBody>
      </p:sp>
      <p:sp>
        <p:nvSpPr>
          <p:cNvPr id="30" name="Text 23"/>
          <p:cNvSpPr/>
          <p:nvPr/>
        </p:nvSpPr>
        <p:spPr>
          <a:xfrm>
            <a:off x="4572000" y="49834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analisa assets enviados pelo cliente · sugestões de correção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8046720" y="4160520"/>
            <a:ext cx="35661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046720" y="4160520"/>
            <a:ext cx="73152" cy="1691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4434840"/>
            <a:ext cx="411480" cy="41148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915400" y="43891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</a:t>
            </a:r>
            <a:endParaRPr lang="en-US" sz="1600" dirty="0"/>
          </a:p>
        </p:txBody>
      </p:sp>
      <p:sp>
        <p:nvSpPr>
          <p:cNvPr id="35" name="Text 27"/>
          <p:cNvSpPr/>
          <p:nvPr/>
        </p:nvSpPr>
        <p:spPr>
          <a:xfrm>
            <a:off x="8321040" y="49834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registrado · cronologia por bloco · auditável end-to-end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ArchTechTour · Portal &amp; Analytics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PRÓXIMOS PASSOS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743200" cy="1234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Curto prazo (este mês)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2103120"/>
            <a:ext cx="83210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0" y="2331720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2240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Lambdas mensais (dia 5 + dia 10) no console AWS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0" y="2697480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606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Rotacionar credenciais AWS e endurecer endpoint /refresh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0" y="3063240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2971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domínio customizado app.archtechtour.com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2743200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931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 prazo (próximos 60 dias)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91840" y="3520440"/>
            <a:ext cx="83210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374904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3657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analytics dos demais clientes do dim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411480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4023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funil de conversão (sessão → AR → download)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448056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4389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mês-a-mês no dashboard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937760"/>
            <a:ext cx="2743200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5349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Longo prazo (3-6 meses)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91840" y="4937760"/>
            <a:ext cx="83210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516636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0" y="5074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Migração de dados in-memory para Prisma + PostgreSQL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474720" y="553212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0" y="5440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 por email para ações pendentes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474720" y="589788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0" y="5806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e-commerce dos clientes (deep link 3D → checkout)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ArchTechTour · Portal &amp; Analytics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resumo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Tiramos o BI da equação.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Construímos um portal que extrai, agrega e mostra os dados sozinho.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3931920"/>
            <a:ext cx="2651760" cy="1691640"/>
          </a:xfrm>
          <a:prstGeom prst="rect">
            <a:avLst/>
          </a:prstGeom>
          <a:solidFill>
            <a:srgbClr val="1E293B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40690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21×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68680" y="5029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mais rápidas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38728" y="3931920"/>
            <a:ext cx="2651760" cy="1691640"/>
          </a:xfrm>
          <a:prstGeom prst="rect">
            <a:avLst/>
          </a:prstGeom>
          <a:solidFill>
            <a:srgbClr val="1E293B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75888" y="40690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740×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675888" y="5029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data scaneada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45936" y="3931920"/>
            <a:ext cx="2651760" cy="1691640"/>
          </a:xfrm>
          <a:prstGeom prst="rect">
            <a:avLst/>
          </a:prstGeom>
          <a:solidFill>
            <a:srgbClr val="1E293B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3096" y="40690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483096" y="5029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manuais/mês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53144" y="3931920"/>
            <a:ext cx="2651760" cy="1691640"/>
          </a:xfrm>
          <a:prstGeom prst="rect">
            <a:avLst/>
          </a:prstGeom>
          <a:solidFill>
            <a:srgbClr val="1E293B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90304" y="40690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US$ 5-15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9290304" y="5029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total/mês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Matheus Palhano · Tech Lead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mpalhano@archtechtour.com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ArchTechTour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Portal ArchTechTour — Migração de Analytics &amp; Automação</dc:title>
  <dc:subject>PptxGenJS Presentation</dc:subject>
  <dc:creator>Matheus Palhano</dc:creator>
  <cp:lastModifiedBy>Matheus Palhano</cp:lastModifiedBy>
  <cp:revision>1</cp:revision>
  <dcterms:created xsi:type="dcterms:W3CDTF">2026-05-15T09:05:16Z</dcterms:created>
  <dcterms:modified xsi:type="dcterms:W3CDTF">2026-05-15T09:05:16Z</dcterms:modified>
</cp:coreProperties>
</file>